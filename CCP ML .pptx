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ADLaM Display" panose="02010000000000000000" pitchFamily="2" charset="0"/>
      <p:regular r:id="rId13"/>
    </p:embeddedFont>
    <p:embeddedFont>
      <p:font typeface="Arimo" panose="020B0604020202020204" charset="0"/>
      <p:regular r:id="rId14"/>
    </p:embeddedFont>
    <p:embeddedFont>
      <p:font typeface="Outfit Extra Bold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13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69908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jp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13" Type="http://schemas.openxmlformats.org/officeDocument/2006/relationships/image" Target="../media/image16.png"/><Relationship Id="rId18" Type="http://schemas.openxmlformats.org/officeDocument/2006/relationships/image" Target="../media/image21.png"/><Relationship Id="rId3" Type="http://schemas.openxmlformats.org/officeDocument/2006/relationships/image" Target="../media/image6.png"/><Relationship Id="rId21" Type="http://schemas.openxmlformats.org/officeDocument/2006/relationships/image" Target="../media/image24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17" Type="http://schemas.openxmlformats.org/officeDocument/2006/relationships/image" Target="../media/image20.sv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9.png"/><Relationship Id="rId20" Type="http://schemas.openxmlformats.org/officeDocument/2006/relationships/image" Target="../media/image23.sv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11" Type="http://schemas.openxmlformats.org/officeDocument/2006/relationships/image" Target="../media/image14.svg"/><Relationship Id="rId5" Type="http://schemas.openxmlformats.org/officeDocument/2006/relationships/image" Target="../media/image8.svg"/><Relationship Id="rId15" Type="http://schemas.openxmlformats.org/officeDocument/2006/relationships/image" Target="../media/image18.png"/><Relationship Id="rId10" Type="http://schemas.openxmlformats.org/officeDocument/2006/relationships/image" Target="../media/image13.png"/><Relationship Id="rId19" Type="http://schemas.openxmlformats.org/officeDocument/2006/relationships/image" Target="../media/image22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svg"/><Relationship Id="rId9" Type="http://schemas.openxmlformats.org/officeDocument/2006/relationships/image" Target="../media/image32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sv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7.svg"/><Relationship Id="rId5" Type="http://schemas.openxmlformats.org/officeDocument/2006/relationships/image" Target="../media/image36.png"/><Relationship Id="rId4" Type="http://schemas.openxmlformats.org/officeDocument/2006/relationships/image" Target="../media/image35.svg"/><Relationship Id="rId9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155769" y="714494"/>
            <a:ext cx="7805261" cy="1195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b="1" dirty="0">
                <a:solidFill>
                  <a:srgbClr val="23197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Comparative Machine Learning for Medical Diagnosis Prediction</a:t>
            </a:r>
            <a:endParaRPr lang="en-US" sz="3750" b="1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155769" y="2196703"/>
            <a:ext cx="7805261" cy="305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6155769" y="2789396"/>
            <a:ext cx="2390894" cy="2988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Goal: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6155769" y="3375065"/>
            <a:ext cx="7805261" cy="611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To develop the most reliable computational model capable of predicting a binary medical outcome (e.g., presence or absence of a disease) using comprehensive clinical patient data.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155769" y="4201954"/>
            <a:ext cx="7805261" cy="305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155769" y="4722971"/>
            <a:ext cx="7805261" cy="1147524"/>
          </a:xfrm>
          <a:prstGeom prst="roundRect">
            <a:avLst>
              <a:gd name="adj" fmla="val 9562"/>
            </a:avLst>
          </a:prstGeom>
          <a:solidFill>
            <a:srgbClr val="FAFAFA">
              <a:alpha val="95000"/>
            </a:srgbClr>
          </a:solidFill>
          <a:ln w="22860">
            <a:solidFill>
              <a:srgbClr val="BDB8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132909" y="4722971"/>
            <a:ext cx="91440" cy="1147524"/>
          </a:xfrm>
          <a:prstGeom prst="roundRect">
            <a:avLst>
              <a:gd name="adj" fmla="val 87855"/>
            </a:avLst>
          </a:prstGeom>
          <a:solidFill>
            <a:srgbClr val="5E4C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438424" y="4937046"/>
            <a:ext cx="2390894" cy="2988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Data Used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6438424" y="5350550"/>
            <a:ext cx="7308533" cy="305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medical_diagnostic_dataset.csv, a rich source of patient information.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155769" y="6061710"/>
            <a:ext cx="7805261" cy="1453396"/>
          </a:xfrm>
          <a:prstGeom prst="roundRect">
            <a:avLst>
              <a:gd name="adj" fmla="val 7550"/>
            </a:avLst>
          </a:prstGeom>
          <a:solidFill>
            <a:srgbClr val="FAFAFA">
              <a:alpha val="95000"/>
            </a:srgbClr>
          </a:solidFill>
          <a:ln w="22860">
            <a:solidFill>
              <a:srgbClr val="BDB8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132909" y="6061710"/>
            <a:ext cx="91440" cy="1453396"/>
          </a:xfrm>
          <a:prstGeom prst="roundRect">
            <a:avLst>
              <a:gd name="adj" fmla="val 87855"/>
            </a:avLst>
          </a:prstGeom>
          <a:solidFill>
            <a:srgbClr val="5E4C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438424" y="6275784"/>
            <a:ext cx="2390894" cy="2988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Project Focus</a:t>
            </a:r>
            <a:endParaRPr lang="en-US" sz="1850" dirty="0"/>
          </a:p>
        </p:txBody>
      </p:sp>
      <p:sp>
        <p:nvSpPr>
          <p:cNvPr id="15" name="Text 12"/>
          <p:cNvSpPr/>
          <p:nvPr/>
        </p:nvSpPr>
        <p:spPr>
          <a:xfrm>
            <a:off x="6438424" y="6689288"/>
            <a:ext cx="7308533" cy="611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Rigorous comparison of multiple machine learning models to select the optimal one for clinical deployment, primarily evaluated by ROC-AUC.</a:t>
            </a:r>
            <a:endParaRPr lang="en-US" sz="1500" dirty="0"/>
          </a:p>
        </p:txBody>
      </p:sp>
      <p:pic>
        <p:nvPicPr>
          <p:cNvPr id="17" name="Picture 16" descr="A white background with black and white clouds&#10;&#10;AI-generated content may be incorrect.">
            <a:extLst>
              <a:ext uri="{FF2B5EF4-FFF2-40B4-BE49-F238E27FC236}">
                <a16:creationId xmlns:a16="http://schemas.microsoft.com/office/drawing/2014/main" id="{565676A1-C9F4-5145-709F-056D942F4B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28961" y="7658050"/>
            <a:ext cx="2301439" cy="571550"/>
          </a:xfrm>
          <a:prstGeom prst="rect">
            <a:avLst/>
          </a:prstGeom>
        </p:spPr>
      </p:pic>
      <p:pic>
        <p:nvPicPr>
          <p:cNvPr id="21" name="Picture 20" descr="A person holding a folder&#10;&#10;AI-generated content may be incorrect.">
            <a:extLst>
              <a:ext uri="{FF2B5EF4-FFF2-40B4-BE49-F238E27FC236}">
                <a16:creationId xmlns:a16="http://schemas.microsoft.com/office/drawing/2014/main" id="{0E20B5D7-A936-7BCC-CB14-8BC03D16FE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375" y="814412"/>
            <a:ext cx="5343525" cy="66007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55281" y="446961"/>
            <a:ext cx="5699165" cy="413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550" b="1" dirty="0">
                <a:solidFill>
                  <a:srgbClr val="23197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Data and Preprocessing Essentials </a:t>
            </a:r>
            <a:endParaRPr lang="en-US" sz="255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055281" y="1104662"/>
            <a:ext cx="8006239" cy="520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Before any model training, meticulous data preparation is crucial. We focused on critical features and ensuring data quality.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6055281" y="1807488"/>
            <a:ext cx="162520" cy="203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2A2742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01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6055281" y="2060853"/>
            <a:ext cx="8006239" cy="22860"/>
          </a:xfrm>
          <a:prstGeom prst="rect">
            <a:avLst/>
          </a:prstGeom>
          <a:solidFill>
            <a:srgbClr val="5E4C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055281" y="2187773"/>
            <a:ext cx="2031802" cy="253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The Data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6055281" y="2539246"/>
            <a:ext cx="8006239" cy="520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Features included Age, BMI, Glucose, BloodPressure, and more. The target variable was a binary </a:t>
            </a:r>
            <a:r>
              <a:rPr lang="en-US" sz="125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Outcome (1 or 0)</a:t>
            </a:r>
            <a:r>
              <a:rPr lang="en-US" sz="12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055281" y="3343632"/>
            <a:ext cx="162520" cy="203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2A2742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02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055281" y="3596997"/>
            <a:ext cx="8006239" cy="22860"/>
          </a:xfrm>
          <a:prstGeom prst="rect">
            <a:avLst/>
          </a:prstGeom>
          <a:solidFill>
            <a:srgbClr val="5E4C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055281" y="3723918"/>
            <a:ext cx="2136458" cy="253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Handling Missing Data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6055281" y="4075390"/>
            <a:ext cx="8006239" cy="520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Clinically impossible zero values for features like Insulin and BloodPressure were addressed using </a:t>
            </a:r>
            <a:r>
              <a:rPr lang="en-US" sz="125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median imputation</a:t>
            </a:r>
            <a:r>
              <a:rPr lang="en-US" sz="12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, a robust method to preserve data integrity.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055281" y="4879777"/>
            <a:ext cx="162520" cy="203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2A2742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03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055281" y="5133142"/>
            <a:ext cx="8006239" cy="22860"/>
          </a:xfrm>
          <a:prstGeom prst="rect">
            <a:avLst/>
          </a:prstGeom>
          <a:solidFill>
            <a:srgbClr val="5E4C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055281" y="5260062"/>
            <a:ext cx="2031802" cy="253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Standardization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6055281" y="5611535"/>
            <a:ext cx="8006239" cy="520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All feature values were scaled to prevent any single feature from disproportionately influencing model training due to its numerical range. This ensures fair comparison.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6055281" y="6415921"/>
            <a:ext cx="162520" cy="203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2A2742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04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055281" y="6669286"/>
            <a:ext cx="8006239" cy="22860"/>
          </a:xfrm>
          <a:prstGeom prst="rect">
            <a:avLst/>
          </a:prstGeom>
          <a:solidFill>
            <a:srgbClr val="5E4C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055281" y="6796207"/>
            <a:ext cx="2031802" cy="253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Data Split</a:t>
            </a:r>
            <a:endParaRPr lang="en-US" sz="1550" dirty="0"/>
          </a:p>
        </p:txBody>
      </p:sp>
      <p:sp>
        <p:nvSpPr>
          <p:cNvPr id="20" name="Text 17"/>
          <p:cNvSpPr/>
          <p:nvPr/>
        </p:nvSpPr>
        <p:spPr>
          <a:xfrm>
            <a:off x="6055281" y="7147679"/>
            <a:ext cx="8006239" cy="520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The dataset was partitioned into an </a:t>
            </a:r>
            <a:r>
              <a:rPr lang="en-US" sz="125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80% Training set</a:t>
            </a:r>
            <a:r>
              <a:rPr lang="en-US" sz="12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and a </a:t>
            </a:r>
            <a:r>
              <a:rPr lang="en-US" sz="125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20% Test set</a:t>
            </a:r>
            <a:r>
              <a:rPr lang="en-US" sz="12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to rigorously evaluate model generalization and detect overfitting.</a:t>
            </a:r>
            <a:endParaRPr lang="en-US" sz="1250" dirty="0"/>
          </a:p>
        </p:txBody>
      </p:sp>
      <p:pic>
        <p:nvPicPr>
          <p:cNvPr id="22" name="Picture 21" descr="A white background with black and white clouds&#10;&#10;AI-generated content may be incorrect.">
            <a:extLst>
              <a:ext uri="{FF2B5EF4-FFF2-40B4-BE49-F238E27FC236}">
                <a16:creationId xmlns:a16="http://schemas.microsoft.com/office/drawing/2014/main" id="{795C5990-779F-7DFC-55AD-263E11909E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28961" y="7656740"/>
            <a:ext cx="2301439" cy="57155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0C982971-D89F-0F22-6DBE-53C0E9D43419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674845" y="517702"/>
            <a:ext cx="4573429" cy="692679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2713" y="594360"/>
            <a:ext cx="7028498" cy="545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350" b="1" dirty="0">
                <a:solidFill>
                  <a:srgbClr val="23197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The Six Classifiers Implemented </a:t>
            </a:r>
            <a:endParaRPr lang="en-US" sz="335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52713" y="1569720"/>
            <a:ext cx="13124974" cy="687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To ensure a comprehensive and unbiased comparison, we rigorously tested six diverse machine learning models, each offering unique strengths in pattern recognition.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2329934" y="2671524"/>
            <a:ext cx="2688431" cy="33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Decision Tree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52713" y="3136463"/>
            <a:ext cx="4265652" cy="687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700"/>
              </a:lnSpc>
              <a:buNone/>
            </a:pPr>
            <a:r>
              <a:rPr lang="en-US" sz="16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 fundamental, rule-based approach that mimics human decision-making.</a:t>
            </a:r>
            <a:endParaRPr lang="en-US" sz="16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8365" y="2770584"/>
            <a:ext cx="4593669" cy="4593669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72488" y="3891677"/>
            <a:ext cx="302419" cy="30241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612035" y="2499598"/>
            <a:ext cx="2688431" cy="33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Random Forest</a:t>
            </a:r>
            <a:endParaRPr lang="en-US" sz="2100" dirty="0"/>
          </a:p>
        </p:txBody>
      </p:sp>
      <p:sp>
        <p:nvSpPr>
          <p:cNvPr id="9" name="Text 5"/>
          <p:cNvSpPr/>
          <p:nvPr/>
        </p:nvSpPr>
        <p:spPr>
          <a:xfrm>
            <a:off x="9612035" y="2964537"/>
            <a:ext cx="4265652" cy="1031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An ensemble method leveraging multiple decision trees for enhanced robustness and accuracy.</a:t>
            </a:r>
            <a:endParaRPr lang="en-US" sz="16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18365" y="2770584"/>
            <a:ext cx="4593669" cy="4593669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55374" y="3891677"/>
            <a:ext cx="302419" cy="302419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042088" y="4490918"/>
            <a:ext cx="3822978" cy="33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Support Vector Machine (SVM)</a:t>
            </a:r>
            <a:endParaRPr lang="en-US" sz="2100" dirty="0"/>
          </a:p>
        </p:txBody>
      </p:sp>
      <p:sp>
        <p:nvSpPr>
          <p:cNvPr id="13" name="Text 7"/>
          <p:cNvSpPr/>
          <p:nvPr/>
        </p:nvSpPr>
        <p:spPr>
          <a:xfrm>
            <a:off x="10042088" y="4955858"/>
            <a:ext cx="3835598" cy="687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Identifies the optimal hyperplane for clear class separation.</a:t>
            </a:r>
            <a:endParaRPr lang="en-US" sz="16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18365" y="2770584"/>
            <a:ext cx="4593669" cy="4593669"/>
          </a:xfrm>
          <a:prstGeom prst="rect">
            <a:avLst/>
          </a:prstGeom>
        </p:spPr>
      </p:pic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346758" y="4916091"/>
            <a:ext cx="302419" cy="302419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9612035" y="6138386"/>
            <a:ext cx="3471148" cy="33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K-Nearest Neighbors (KNN)</a:t>
            </a:r>
            <a:endParaRPr lang="en-US" sz="2100" dirty="0"/>
          </a:p>
        </p:txBody>
      </p:sp>
      <p:sp>
        <p:nvSpPr>
          <p:cNvPr id="17" name="Text 9"/>
          <p:cNvSpPr/>
          <p:nvPr/>
        </p:nvSpPr>
        <p:spPr>
          <a:xfrm>
            <a:off x="9612035" y="6603325"/>
            <a:ext cx="4265652" cy="1031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Classifies based on the proximity to its K nearest data points, a non-parametric approach.</a:t>
            </a:r>
            <a:endParaRPr lang="en-US" sz="165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18365" y="2770584"/>
            <a:ext cx="4593669" cy="4593669"/>
          </a:xfrm>
          <a:prstGeom prst="rect">
            <a:avLst/>
          </a:prstGeom>
        </p:spPr>
      </p:pic>
      <p:pic>
        <p:nvPicPr>
          <p:cNvPr id="19" name="Image 7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755374" y="5940385"/>
            <a:ext cx="302419" cy="302419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2266593" y="6310313"/>
            <a:ext cx="2751773" cy="33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Gaussian Naive Bayes</a:t>
            </a:r>
            <a:endParaRPr lang="en-US" sz="2100" dirty="0"/>
          </a:p>
        </p:txBody>
      </p:sp>
      <p:sp>
        <p:nvSpPr>
          <p:cNvPr id="21" name="Text 11"/>
          <p:cNvSpPr/>
          <p:nvPr/>
        </p:nvSpPr>
        <p:spPr>
          <a:xfrm>
            <a:off x="752713" y="6775252"/>
            <a:ext cx="4265652" cy="687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700"/>
              </a:lnSpc>
              <a:buNone/>
            </a:pPr>
            <a:r>
              <a:rPr lang="en-US" sz="16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 probabilistic model based on Bayes' theorem, assuming feature independence.</a:t>
            </a:r>
            <a:endParaRPr lang="en-US" sz="1650" dirty="0"/>
          </a:p>
        </p:txBody>
      </p:sp>
      <p:pic>
        <p:nvPicPr>
          <p:cNvPr id="22" name="Image 8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018365" y="2770584"/>
            <a:ext cx="4593669" cy="4593669"/>
          </a:xfrm>
          <a:prstGeom prst="rect">
            <a:avLst/>
          </a:prstGeom>
        </p:spPr>
      </p:pic>
      <p:pic>
        <p:nvPicPr>
          <p:cNvPr id="23" name="Image 9" descr="preencoded.png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572488" y="5940385"/>
            <a:ext cx="302419" cy="302419"/>
          </a:xfrm>
          <a:prstGeom prst="rect">
            <a:avLst/>
          </a:prstGeom>
        </p:spPr>
      </p:pic>
      <p:sp>
        <p:nvSpPr>
          <p:cNvPr id="24" name="Text 12"/>
          <p:cNvSpPr/>
          <p:nvPr/>
        </p:nvSpPr>
        <p:spPr>
          <a:xfrm>
            <a:off x="1899880" y="4318992"/>
            <a:ext cx="2688431" cy="33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ANN (MLP)</a:t>
            </a:r>
            <a:endParaRPr lang="en-US" sz="2100" dirty="0"/>
          </a:p>
        </p:txBody>
      </p:sp>
      <p:sp>
        <p:nvSpPr>
          <p:cNvPr id="25" name="Text 13"/>
          <p:cNvSpPr/>
          <p:nvPr/>
        </p:nvSpPr>
        <p:spPr>
          <a:xfrm>
            <a:off x="752713" y="4783931"/>
            <a:ext cx="3835598" cy="1031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700"/>
              </a:lnSpc>
              <a:buNone/>
            </a:pPr>
            <a:r>
              <a:rPr lang="en-US" sz="16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Artificial Neural Network, capable of learning complex, non-linear patterns within the data.</a:t>
            </a:r>
            <a:endParaRPr lang="en-US" sz="1650" dirty="0"/>
          </a:p>
        </p:txBody>
      </p:sp>
      <p:pic>
        <p:nvPicPr>
          <p:cNvPr id="26" name="Image 10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018365" y="2770584"/>
            <a:ext cx="4593669" cy="4593669"/>
          </a:xfrm>
          <a:prstGeom prst="rect">
            <a:avLst/>
          </a:prstGeom>
        </p:spPr>
      </p:pic>
      <p:pic>
        <p:nvPicPr>
          <p:cNvPr id="27" name="Image 11" descr="preencoded.png"/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981105" y="4916091"/>
            <a:ext cx="302419" cy="302419"/>
          </a:xfrm>
          <a:prstGeom prst="rect">
            <a:avLst/>
          </a:prstGeom>
        </p:spPr>
      </p:pic>
      <p:pic>
        <p:nvPicPr>
          <p:cNvPr id="29" name="Picture 28" descr="A white sky with clouds&#10;&#10;AI-generated content may be incorrect.">
            <a:extLst>
              <a:ext uri="{FF2B5EF4-FFF2-40B4-BE49-F238E27FC236}">
                <a16:creationId xmlns:a16="http://schemas.microsoft.com/office/drawing/2014/main" id="{473C8DAC-9A6A-0604-3044-0B6A761A4A22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2553864" y="7682865"/>
            <a:ext cx="1981372" cy="44199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1647" y="621983"/>
            <a:ext cx="7718108" cy="580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V</a:t>
            </a:r>
            <a:r>
              <a:rPr lang="en-US" sz="3550" b="1" dirty="0">
                <a:solidFill>
                  <a:srgbClr val="23197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alidation Strategy: The Fair Test </a:t>
            </a:r>
            <a:endParaRPr lang="en-US" sz="355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1647" y="1655088"/>
            <a:ext cx="13047107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 robust validation strategy is paramount to ensure our models are reliable and generalize well to unseen patient data, preventing the pitfall of overfitting.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1647" y="2859524"/>
            <a:ext cx="2827377" cy="353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Problem to Solve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1647" y="3439001"/>
            <a:ext cx="6247686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Preventing models from </a:t>
            </a:r>
            <a:r>
              <a:rPr lang="en-US" sz="175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overfitting</a:t>
            </a: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– memorizing the training data instead of learning generalizable patterns, which leads to poor real-world performance.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598688" y="2859524"/>
            <a:ext cx="2827377" cy="353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Core Technique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598688" y="3439001"/>
            <a:ext cx="6247686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Stratified K-Fold Cross-Validation</a:t>
            </a: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(typically 10 folds) was employed. This method ensures each fold maintains the original class distribution, providing stable and reliable average performance scores across diverse subsets of the training data.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91647" y="5706666"/>
            <a:ext cx="13047107" cy="1902381"/>
          </a:xfrm>
          <a:prstGeom prst="roundRect">
            <a:avLst>
              <a:gd name="adj" fmla="val 4994"/>
            </a:avLst>
          </a:prstGeom>
          <a:solidFill>
            <a:srgbClr val="C3BC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746" y="6016109"/>
            <a:ext cx="353378" cy="28265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97223" y="5989201"/>
            <a:ext cx="3171468" cy="353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Hyperparameter Tuning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597223" y="6568678"/>
            <a:ext cx="1201543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Grid Search</a:t>
            </a:r>
            <a:r>
              <a:rPr lang="en-US" sz="1750" dirty="0">
                <a:solidFill>
                  <a:srgbClr val="00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was utilized to systematically explore and identify the optimal combination of settings for the best-performing models (Random Forest and SVM), fine-tuning them for peak diagnostic accuracy and efficiency.</a:t>
            </a:r>
            <a:endParaRPr lang="en-US" sz="1750" dirty="0"/>
          </a:p>
        </p:txBody>
      </p:sp>
      <p:pic>
        <p:nvPicPr>
          <p:cNvPr id="13" name="Picture 12" descr="A white sky with clouds&#10;&#10;AI-generated content may be incorrect.">
            <a:extLst>
              <a:ext uri="{FF2B5EF4-FFF2-40B4-BE49-F238E27FC236}">
                <a16:creationId xmlns:a16="http://schemas.microsoft.com/office/drawing/2014/main" id="{B0E522D5-FA19-E43A-6B06-DDA4105F15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21967" y="7712592"/>
            <a:ext cx="1981372" cy="44199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72277"/>
            <a:ext cx="4610576" cy="582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23197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Evaluation Metrics </a:t>
            </a:r>
            <a:endParaRPr lang="en-US" sz="355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2108121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 comprehensive suite of evaluation metrics was used to provide a holistic clinical assessment of each model's performance, focusing on different aspects of diagnostic accuracy.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089077"/>
            <a:ext cx="13042821" cy="4068128"/>
          </a:xfrm>
          <a:prstGeom prst="roundRect">
            <a:avLst>
              <a:gd name="adj" fmla="val 2342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01410" y="3096697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28343" y="3240405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Accuracy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3637598" y="3240405"/>
            <a:ext cx="474976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Overall percentage of correct predictions.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8848606" y="3240405"/>
            <a:ext cx="47535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General model performance.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801410" y="3747016"/>
            <a:ext cx="13027581" cy="101322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28343" y="3890724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Precision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3637598" y="3890724"/>
            <a:ext cx="474976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Correctly predicted positives vs. </a:t>
            </a:r>
            <a:r>
              <a:rPr lang="en-US" sz="1750" i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all</a:t>
            </a: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predicted positives.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8848606" y="3890724"/>
            <a:ext cx="47535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Minimizing </a:t>
            </a:r>
            <a:r>
              <a:rPr lang="en-US" sz="175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False Alarms</a:t>
            </a: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(healthy patients incorrectly told they are sick).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801410" y="4760238"/>
            <a:ext cx="13027581" cy="101322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28343" y="4903946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Recall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3637598" y="4903946"/>
            <a:ext cx="474976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Correctly predicted positives vs. </a:t>
            </a:r>
            <a:r>
              <a:rPr lang="en-US" sz="1750" i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all actual</a:t>
            </a: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positives.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8848606" y="4903946"/>
            <a:ext cx="47535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Minimizing </a:t>
            </a:r>
            <a:r>
              <a:rPr lang="en-US" sz="175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Missed Diagnoses</a:t>
            </a: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(sick patients incorrectly told they are healthy).</a:t>
            </a:r>
            <a:endParaRPr lang="en-US" sz="1750" dirty="0"/>
          </a:p>
        </p:txBody>
      </p:sp>
      <p:sp>
        <p:nvSpPr>
          <p:cNvPr id="17" name="Shape 15"/>
          <p:cNvSpPr/>
          <p:nvPr/>
        </p:nvSpPr>
        <p:spPr>
          <a:xfrm>
            <a:off x="801410" y="5773460"/>
            <a:ext cx="13027581" cy="137612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28343" y="5917168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ROC-AUC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3637598" y="5917168"/>
            <a:ext cx="474976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The main deciding metric; measures the model's ability to clearly distinguish between the two classes.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8848606" y="5917168"/>
            <a:ext cx="47535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Overall quality of diagnostic separation.</a:t>
            </a:r>
            <a:endParaRPr lang="en-US" sz="1750" dirty="0"/>
          </a:p>
        </p:txBody>
      </p:sp>
      <p:pic>
        <p:nvPicPr>
          <p:cNvPr id="22" name="Picture 21" descr="A white sky with clouds&#10;&#10;AI-generated content may be incorrect.">
            <a:extLst>
              <a:ext uri="{FF2B5EF4-FFF2-40B4-BE49-F238E27FC236}">
                <a16:creationId xmlns:a16="http://schemas.microsoft.com/office/drawing/2014/main" id="{6C5C7F01-F0F9-BD5D-3B3B-77F4514446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49028" y="7663816"/>
            <a:ext cx="1981372" cy="44199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71976" y="580668"/>
            <a:ext cx="5115401" cy="416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550" b="1" dirty="0">
                <a:solidFill>
                  <a:srgbClr val="23197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Best Model Results (ROC-AUC) </a:t>
            </a:r>
            <a:endParaRPr lang="en-US" sz="255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571976" y="1241822"/>
            <a:ext cx="8000048" cy="784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The models were rigorously evaluated on the unseen 20% Test Set, with ROC-AUC serving as the primary metric for comparative analysis, reflecting the model's ability to differentiate between positive and negative outcomes.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571976" y="2210038"/>
            <a:ext cx="3918347" cy="2231231"/>
          </a:xfrm>
          <a:prstGeom prst="roundRect">
            <a:avLst>
              <a:gd name="adj" fmla="val 3076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742950" y="2381012"/>
            <a:ext cx="490180" cy="490180"/>
          </a:xfrm>
          <a:prstGeom prst="roundRect">
            <a:avLst>
              <a:gd name="adj" fmla="val 18652506"/>
            </a:avLst>
          </a:prstGeom>
          <a:solidFill>
            <a:srgbClr val="5E4CE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7729" y="2515672"/>
            <a:ext cx="220623" cy="22062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2950" y="3034546"/>
            <a:ext cx="2042874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Tuned SVM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742950" y="3387923"/>
            <a:ext cx="3576399" cy="2614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ROC-AUC: 0.89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742950" y="3747373"/>
            <a:ext cx="3576399" cy="522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BEST PERFORMER</a:t>
            </a:r>
            <a:r>
              <a:rPr lang="en-US" sz="12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- Demonstrating superior diagnostic accuracy and reliability.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4653677" y="2210038"/>
            <a:ext cx="3918347" cy="2231231"/>
          </a:xfrm>
          <a:prstGeom prst="roundRect">
            <a:avLst>
              <a:gd name="adj" fmla="val 3076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4824651" y="2381012"/>
            <a:ext cx="490180" cy="490180"/>
          </a:xfrm>
          <a:prstGeom prst="roundRect">
            <a:avLst>
              <a:gd name="adj" fmla="val 18652506"/>
            </a:avLst>
          </a:prstGeom>
          <a:solidFill>
            <a:srgbClr val="5E4CE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59429" y="2515672"/>
            <a:ext cx="220623" cy="22062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824651" y="3034546"/>
            <a:ext cx="2068116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Tuned Random Forest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4824651" y="3387923"/>
            <a:ext cx="3576399" cy="2614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ROC-AUC: 0.86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4824651" y="3747373"/>
            <a:ext cx="3576399" cy="522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 strong secondary option, providing robust performance with good generalization.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571976" y="4604623"/>
            <a:ext cx="8000048" cy="1969770"/>
          </a:xfrm>
          <a:prstGeom prst="roundRect">
            <a:avLst>
              <a:gd name="adj" fmla="val 3485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3"/>
          <p:cNvSpPr/>
          <p:nvPr/>
        </p:nvSpPr>
        <p:spPr>
          <a:xfrm>
            <a:off x="742950" y="4775597"/>
            <a:ext cx="490180" cy="490180"/>
          </a:xfrm>
          <a:prstGeom prst="roundRect">
            <a:avLst>
              <a:gd name="adj" fmla="val 18652506"/>
            </a:avLst>
          </a:prstGeom>
          <a:solidFill>
            <a:srgbClr val="5E4CE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77729" y="4910257"/>
            <a:ext cx="220623" cy="220623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42950" y="5429131"/>
            <a:ext cx="2042874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Other Models</a:t>
            </a: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742950" y="5782508"/>
            <a:ext cx="7658100" cy="2614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Average ROC-AUC: 0.78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742950" y="6141958"/>
            <a:ext cx="7658100" cy="2614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Served as a baseline for comparison, highlighting the advanced performance of tuned models.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817007" y="6942058"/>
            <a:ext cx="7755017" cy="522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Conclusion:</a:t>
            </a:r>
            <a:r>
              <a:rPr lang="en-US" sz="12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The </a:t>
            </a:r>
            <a:r>
              <a:rPr lang="en-US" sz="1250" dirty="0">
                <a:solidFill>
                  <a:srgbClr val="00674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Tuned Support Vector Machine (SVM)</a:t>
            </a:r>
            <a:r>
              <a:rPr lang="en-US" sz="12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consistently achieved the highest performance based on the critical ROC-AUC metric, making it the most suitable model for this diagnostic task.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571976" y="6758226"/>
            <a:ext cx="22860" cy="890588"/>
          </a:xfrm>
          <a:prstGeom prst="rect">
            <a:avLst/>
          </a:prstGeom>
          <a:solidFill>
            <a:srgbClr val="5E4CE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8B2D216C-9851-FB00-D0FE-546610BCCF11}"/>
              </a:ext>
            </a:extLst>
          </p:cNvPr>
          <p:cNvPicPr/>
          <p:nvPr/>
        </p:nvPicPr>
        <p:blipFill>
          <a:blip r:embed="rId9"/>
          <a:stretch>
            <a:fillRect/>
          </a:stretch>
        </p:blipFill>
        <p:spPr>
          <a:xfrm>
            <a:off x="8898890" y="409575"/>
            <a:ext cx="5731510" cy="768774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7596" y="779383"/>
            <a:ext cx="5762506" cy="563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450" b="1" dirty="0">
                <a:solidFill>
                  <a:srgbClr val="23197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Visualization: ROC Curve </a:t>
            </a:r>
            <a:endParaRPr lang="en-US" sz="345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67596" y="1781532"/>
            <a:ext cx="13095208" cy="3508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The Receiver Operating Characteristic (ROC) curve provides a powerful visual tool to assess the discriminative power of our models.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67596" y="2598420"/>
            <a:ext cx="2741414" cy="3426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What it Shows</a:t>
            </a:r>
            <a:endParaRPr lang="en-US" sz="2150" dirty="0"/>
          </a:p>
        </p:txBody>
      </p:sp>
      <p:sp>
        <p:nvSpPr>
          <p:cNvPr id="5" name="Text 3"/>
          <p:cNvSpPr/>
          <p:nvPr/>
        </p:nvSpPr>
        <p:spPr>
          <a:xfrm>
            <a:off x="767596" y="3160395"/>
            <a:ext cx="6280071" cy="1052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 graphical representation illustrating how well the model can separate patients into two classes (e.g., diseased vs. healthy) across various classification thresholds.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590353" y="2598420"/>
            <a:ext cx="2741414" cy="3426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Key Feature</a:t>
            </a:r>
            <a:endParaRPr lang="en-US" sz="2150" dirty="0"/>
          </a:p>
        </p:txBody>
      </p:sp>
      <p:sp>
        <p:nvSpPr>
          <p:cNvPr id="7" name="Text 5"/>
          <p:cNvSpPr/>
          <p:nvPr/>
        </p:nvSpPr>
        <p:spPr>
          <a:xfrm>
            <a:off x="7590353" y="3160395"/>
            <a:ext cx="6280071" cy="1052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The closer the curve hugs the top-left corner of the graph, the higher the overall accuracy and better the model's ability to distinguish between classes.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67596" y="4657011"/>
            <a:ext cx="13095208" cy="1844754"/>
          </a:xfrm>
          <a:prstGeom prst="roundRect">
            <a:avLst>
              <a:gd name="adj" fmla="val 4993"/>
            </a:avLst>
          </a:prstGeom>
          <a:solidFill>
            <a:srgbClr val="C3BC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909" y="4957882"/>
            <a:ext cx="342662" cy="27408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48884" y="4931093"/>
            <a:ext cx="2741414" cy="3426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b="1" dirty="0">
                <a:solidFill>
                  <a:srgbClr val="000000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Visual Result</a:t>
            </a:r>
            <a:endParaRPr lang="en-US" sz="2150" dirty="0"/>
          </a:p>
        </p:txBody>
      </p:sp>
      <p:sp>
        <p:nvSpPr>
          <p:cNvPr id="11" name="Text 8"/>
          <p:cNvSpPr/>
          <p:nvPr/>
        </p:nvSpPr>
        <p:spPr>
          <a:xfrm>
            <a:off x="1548884" y="5493068"/>
            <a:ext cx="12094607" cy="70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The SVM curve consistently demonstrated superior performance, extending significantly closer to the top-left corner compared to other models.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767596" y="6748463"/>
            <a:ext cx="13095208" cy="70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Interpretation:</a:t>
            </a:r>
            <a:r>
              <a:rPr lang="en-US" sz="17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This visual confirmation reinforces that the SVM model achieves the optimal balance between identifying true positive cases and minimizing false positive alarms, crucial for clinical decision-making.</a:t>
            </a:r>
            <a:endParaRPr lang="en-US" sz="1700" dirty="0"/>
          </a:p>
        </p:txBody>
      </p:sp>
      <p:pic>
        <p:nvPicPr>
          <p:cNvPr id="14" name="Picture 13" descr="A white sky with clouds&#10;&#10;AI-generated content may be incorrect.">
            <a:extLst>
              <a:ext uri="{FF2B5EF4-FFF2-40B4-BE49-F238E27FC236}">
                <a16:creationId xmlns:a16="http://schemas.microsoft.com/office/drawing/2014/main" id="{3A239274-D05C-D190-AD98-C24F271400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44339" y="7696915"/>
            <a:ext cx="1981372" cy="44199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6760" y="588645"/>
            <a:ext cx="6054090" cy="5411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350" b="1" dirty="0">
                <a:solidFill>
                  <a:srgbClr val="23197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Feature Importance (Why?) </a:t>
            </a:r>
            <a:endParaRPr lang="en-US" sz="335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46760" y="1556504"/>
            <a:ext cx="13136880" cy="68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Understanding which features drive the model's predictions is vital for clinical interpretability and validating the model's relevance to medical knowledge.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746760" y="2479238"/>
            <a:ext cx="13136880" cy="68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Model Used:</a:t>
            </a:r>
            <a:r>
              <a:rPr lang="en-US" sz="16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Random Forest, renowned for its ability to provide insights into feature importance, explaining its diagnostic decisions effectively.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746760" y="3481983"/>
            <a:ext cx="2667357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Key Takeaway: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46760" y="4135398"/>
            <a:ext cx="13136880" cy="68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The model's findings are </a:t>
            </a:r>
            <a:r>
              <a:rPr lang="en-US" sz="1650" dirty="0">
                <a:solidFill>
                  <a:srgbClr val="00674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clinically relevant</a:t>
            </a:r>
            <a:r>
              <a:rPr lang="en-US" sz="16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and strongly align with known medical risk factors, reinforcing its potential for practical application.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746760" y="5378172"/>
            <a:ext cx="4236720" cy="2262664"/>
          </a:xfrm>
          <a:prstGeom prst="roundRect">
            <a:avLst>
              <a:gd name="adj" fmla="val 6466"/>
            </a:avLst>
          </a:prstGeom>
          <a:solidFill>
            <a:srgbClr val="FAFAFA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46760" y="5347692"/>
            <a:ext cx="4236720" cy="121920"/>
          </a:xfrm>
          <a:prstGeom prst="roundRect">
            <a:avLst>
              <a:gd name="adj" fmla="val 73511"/>
            </a:avLst>
          </a:prstGeom>
          <a:solidFill>
            <a:srgbClr val="5E4C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545080" y="5058132"/>
            <a:ext cx="640080" cy="640080"/>
          </a:xfrm>
          <a:prstGeom prst="roundRect">
            <a:avLst>
              <a:gd name="adj" fmla="val 142857"/>
            </a:avLst>
          </a:prstGeom>
          <a:solidFill>
            <a:srgbClr val="5E4CE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37128" y="5250180"/>
            <a:ext cx="255984" cy="25598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90600" y="5911572"/>
            <a:ext cx="2667357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Glucose: ~25%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990600" y="6372939"/>
            <a:ext cx="3749040" cy="10240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Identified as the primary medical indicator, underscoring its critical role in the diagnosis.</a:t>
            </a:r>
            <a:endParaRPr lang="en-US" sz="1650" dirty="0"/>
          </a:p>
        </p:txBody>
      </p:sp>
      <p:sp>
        <p:nvSpPr>
          <p:cNvPr id="13" name="Shape 10"/>
          <p:cNvSpPr/>
          <p:nvPr/>
        </p:nvSpPr>
        <p:spPr>
          <a:xfrm>
            <a:off x="5196840" y="5378172"/>
            <a:ext cx="4236720" cy="2262664"/>
          </a:xfrm>
          <a:prstGeom prst="roundRect">
            <a:avLst>
              <a:gd name="adj" fmla="val 6466"/>
            </a:avLst>
          </a:prstGeom>
          <a:solidFill>
            <a:srgbClr val="FAFAFA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5196840" y="5347692"/>
            <a:ext cx="4236720" cy="121920"/>
          </a:xfrm>
          <a:prstGeom prst="roundRect">
            <a:avLst>
              <a:gd name="adj" fmla="val 73511"/>
            </a:avLst>
          </a:prstGeom>
          <a:solidFill>
            <a:srgbClr val="5E4C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6995160" y="5058132"/>
            <a:ext cx="640080" cy="640080"/>
          </a:xfrm>
          <a:prstGeom prst="roundRect">
            <a:avLst>
              <a:gd name="adj" fmla="val 142857"/>
            </a:avLst>
          </a:prstGeom>
          <a:solidFill>
            <a:srgbClr val="5E4CE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87208" y="5250180"/>
            <a:ext cx="255984" cy="25598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440680" y="5911572"/>
            <a:ext cx="2667357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BMI: ~15%</a:t>
            </a:r>
            <a:endParaRPr lang="en-US" sz="2100" dirty="0"/>
          </a:p>
        </p:txBody>
      </p:sp>
      <p:sp>
        <p:nvSpPr>
          <p:cNvPr id="18" name="Text 14"/>
          <p:cNvSpPr/>
          <p:nvPr/>
        </p:nvSpPr>
        <p:spPr>
          <a:xfrm>
            <a:off x="5440680" y="6372939"/>
            <a:ext cx="3749040" cy="10240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Showed a strong correlation with disease risk and patient weight, an important health metric.</a:t>
            </a:r>
            <a:endParaRPr lang="en-US" sz="1650" dirty="0"/>
          </a:p>
        </p:txBody>
      </p:sp>
      <p:sp>
        <p:nvSpPr>
          <p:cNvPr id="19" name="Shape 15"/>
          <p:cNvSpPr/>
          <p:nvPr/>
        </p:nvSpPr>
        <p:spPr>
          <a:xfrm>
            <a:off x="9646920" y="5378172"/>
            <a:ext cx="4236720" cy="2262664"/>
          </a:xfrm>
          <a:prstGeom prst="roundRect">
            <a:avLst>
              <a:gd name="adj" fmla="val 6466"/>
            </a:avLst>
          </a:prstGeom>
          <a:solidFill>
            <a:srgbClr val="FAFAFA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9646920" y="5347692"/>
            <a:ext cx="4236720" cy="121920"/>
          </a:xfrm>
          <a:prstGeom prst="roundRect">
            <a:avLst>
              <a:gd name="adj" fmla="val 73511"/>
            </a:avLst>
          </a:prstGeom>
          <a:solidFill>
            <a:srgbClr val="5E4C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11445240" y="5058132"/>
            <a:ext cx="640080" cy="640080"/>
          </a:xfrm>
          <a:prstGeom prst="roundRect">
            <a:avLst>
              <a:gd name="adj" fmla="val 142857"/>
            </a:avLst>
          </a:prstGeom>
          <a:solidFill>
            <a:srgbClr val="5E4CE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637288" y="5250180"/>
            <a:ext cx="255984" cy="25598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9890760" y="5911572"/>
            <a:ext cx="2667357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Insulin: ~10%</a:t>
            </a:r>
            <a:endParaRPr lang="en-US" sz="2100" dirty="0"/>
          </a:p>
        </p:txBody>
      </p:sp>
      <p:sp>
        <p:nvSpPr>
          <p:cNvPr id="24" name="Text 19"/>
          <p:cNvSpPr/>
          <p:nvPr/>
        </p:nvSpPr>
        <p:spPr>
          <a:xfrm>
            <a:off x="9890760" y="6372939"/>
            <a:ext cx="3749040" cy="10240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Highlighted as significantly related to insulin resistance and blood sugar regulation.</a:t>
            </a:r>
            <a:endParaRPr lang="en-US" sz="1650" dirty="0"/>
          </a:p>
        </p:txBody>
      </p:sp>
      <p:pic>
        <p:nvPicPr>
          <p:cNvPr id="26" name="Picture 25" descr="A white sky with clouds&#10;&#10;AI-generated content may be incorrect.">
            <a:extLst>
              <a:ext uri="{FF2B5EF4-FFF2-40B4-BE49-F238E27FC236}">
                <a16:creationId xmlns:a16="http://schemas.microsoft.com/office/drawing/2014/main" id="{33E9FA84-965F-9058-19DF-D0F2A53ED51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649028" y="7718941"/>
            <a:ext cx="1981372" cy="44199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184" y="641509"/>
            <a:ext cx="6682859" cy="516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23197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Confusion Matrix (Risk Analysis) </a:t>
            </a:r>
            <a:endParaRPr lang="en-US" sz="32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13184" y="1566029"/>
            <a:ext cx="13204031" cy="65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The Confusion Matrix provides a detailed breakdown of the model's classification performance, offering critical insights into where errors occur and their clinical implications.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13184" y="2523887"/>
            <a:ext cx="2547461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What it Shows: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13184" y="3148013"/>
            <a:ext cx="13204031" cy="326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 comprehensive table summarizing the performance of a classification algorithm, detailing correct and incorrect predictions for each class.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13184" y="3811607"/>
            <a:ext cx="101798" cy="101798"/>
          </a:xfrm>
          <a:prstGeom prst="roundRect">
            <a:avLst>
              <a:gd name="adj" fmla="val 449125"/>
            </a:avLst>
          </a:prstGeom>
          <a:solidFill>
            <a:srgbClr val="5E4C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18699" y="3703320"/>
            <a:ext cx="2547461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True Positives (TP)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18699" y="4144089"/>
            <a:ext cx="6169104" cy="326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Correctly identifies a sick patient. </a:t>
            </a:r>
            <a:r>
              <a:rPr lang="en-US" sz="1600" dirty="0">
                <a:solidFill>
                  <a:srgbClr val="00674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(Goal: Maximize)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442478" y="3811607"/>
            <a:ext cx="101798" cy="101798"/>
          </a:xfrm>
          <a:prstGeom prst="roundRect">
            <a:avLst>
              <a:gd name="adj" fmla="val 449125"/>
            </a:avLst>
          </a:prstGeom>
          <a:solidFill>
            <a:srgbClr val="5E4C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747992" y="3703320"/>
            <a:ext cx="2547461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False Negatives (FN)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747992" y="4144089"/>
            <a:ext cx="6169223" cy="326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Incorrectly misses a sick patient. </a:t>
            </a:r>
            <a:r>
              <a:rPr lang="en-US" sz="1600" dirty="0">
                <a:solidFill>
                  <a:srgbClr val="00674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(Goal: Minimize)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13184" y="4986040"/>
            <a:ext cx="101798" cy="101798"/>
          </a:xfrm>
          <a:prstGeom prst="roundRect">
            <a:avLst>
              <a:gd name="adj" fmla="val 449125"/>
            </a:avLst>
          </a:prstGeom>
          <a:solidFill>
            <a:srgbClr val="5E4C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18699" y="4877753"/>
            <a:ext cx="2547461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True Negatives (TN)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18699" y="5318522"/>
            <a:ext cx="6169104" cy="326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Correctly identifies a healthy patient. </a:t>
            </a:r>
            <a:r>
              <a:rPr lang="en-US" sz="1600" dirty="0">
                <a:solidFill>
                  <a:srgbClr val="00674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(Goal: Maximize)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442478" y="4986040"/>
            <a:ext cx="101798" cy="101798"/>
          </a:xfrm>
          <a:prstGeom prst="roundRect">
            <a:avLst>
              <a:gd name="adj" fmla="val 449125"/>
            </a:avLst>
          </a:prstGeom>
          <a:solidFill>
            <a:srgbClr val="5E4C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747992" y="4877753"/>
            <a:ext cx="2547461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False Positives (FP)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747992" y="5318522"/>
            <a:ext cx="6169223" cy="326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Incorrectly identifies a healthy patient as sick. </a:t>
            </a:r>
            <a:r>
              <a:rPr lang="en-US" sz="1600" dirty="0">
                <a:solidFill>
                  <a:srgbClr val="00674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(Goal: Minimize)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13184" y="5873829"/>
            <a:ext cx="13204031" cy="1714143"/>
          </a:xfrm>
          <a:prstGeom prst="roundRect">
            <a:avLst>
              <a:gd name="adj" fmla="val 4994"/>
            </a:avLst>
          </a:prstGeom>
          <a:solidFill>
            <a:srgbClr val="C3BC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900" y="6149340"/>
            <a:ext cx="318373" cy="254675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438989" y="6128385"/>
            <a:ext cx="2547461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Clinical Value: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1438989" y="6650593"/>
            <a:ext cx="12274510" cy="65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This analysis quantifies the trade-offs, enabling us to assess the risk associated with a </a:t>
            </a:r>
            <a:r>
              <a:rPr lang="en-US" sz="1600" b="1" dirty="0">
                <a:solidFill>
                  <a:srgbClr val="00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missed diagnosis (FN)</a:t>
            </a:r>
            <a:r>
              <a:rPr lang="en-US" sz="1600" dirty="0">
                <a:solidFill>
                  <a:srgbClr val="00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versus a </a:t>
            </a:r>
            <a:r>
              <a:rPr lang="en-US" sz="1600" b="1" dirty="0">
                <a:solidFill>
                  <a:srgbClr val="00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false alarm (FP)</a:t>
            </a:r>
            <a:r>
              <a:rPr lang="en-US" sz="1600" dirty="0">
                <a:solidFill>
                  <a:srgbClr val="00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, directly impacting patient care and resource allocation.</a:t>
            </a:r>
            <a:endParaRPr lang="en-US" sz="1600" dirty="0"/>
          </a:p>
        </p:txBody>
      </p:sp>
      <p:pic>
        <p:nvPicPr>
          <p:cNvPr id="23" name="Picture 22" descr="A white sky with clouds&#10;&#10;AI-generated content may be incorrect.">
            <a:extLst>
              <a:ext uri="{FF2B5EF4-FFF2-40B4-BE49-F238E27FC236}">
                <a16:creationId xmlns:a16="http://schemas.microsoft.com/office/drawing/2014/main" id="{DDDB6B74-38C7-31D6-D352-EAE539D460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44339" y="7787602"/>
            <a:ext cx="1981372" cy="44199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189226" y="869156"/>
            <a:ext cx="4884896" cy="517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50"/>
              </a:lnSpc>
              <a:buNone/>
            </a:pPr>
            <a:r>
              <a:rPr lang="en-US" sz="3150" b="1" dirty="0">
                <a:solidFill>
                  <a:srgbClr val="23197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Final Recommendation </a:t>
            </a:r>
            <a:endParaRPr lang="en-US" sz="315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189226" y="1687473"/>
            <a:ext cx="7738348" cy="642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Based on rigorous comparative analysis and comprehensive evaluation, we present our conclusive findings and strategic recommendations for clinical implementation.</a:t>
            </a:r>
            <a:endParaRPr lang="en-US" sz="1550" dirty="0"/>
          </a:p>
        </p:txBody>
      </p:sp>
      <p:sp>
        <p:nvSpPr>
          <p:cNvPr id="5" name="Shape 2"/>
          <p:cNvSpPr/>
          <p:nvPr/>
        </p:nvSpPr>
        <p:spPr>
          <a:xfrm>
            <a:off x="6189226" y="2556034"/>
            <a:ext cx="7738348" cy="4257199"/>
          </a:xfrm>
          <a:prstGeom prst="roundRect">
            <a:avLst>
              <a:gd name="adj" fmla="val 1981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6196846" y="2563654"/>
            <a:ext cx="3861554" cy="2442329"/>
          </a:xfrm>
          <a:prstGeom prst="roundRect">
            <a:avLst>
              <a:gd name="adj" fmla="val 3453"/>
            </a:avLst>
          </a:prstGeom>
          <a:solidFill>
            <a:srgbClr val="E9E6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397585" y="2764393"/>
            <a:ext cx="2510076" cy="313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Key Finding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6397585" y="3198495"/>
            <a:ext cx="3460075" cy="1606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The </a:t>
            </a:r>
            <a:r>
              <a:rPr lang="en-US" sz="1550" dirty="0">
                <a:solidFill>
                  <a:srgbClr val="00674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Tuned Support Vector Machine (SVM)</a:t>
            </a:r>
            <a:r>
              <a:rPr lang="en-US" sz="15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stands out as the most robust and accurate diagnostic tool developed within this analytical framework.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10058400" y="2563654"/>
            <a:ext cx="3861554" cy="2442329"/>
          </a:xfrm>
          <a:prstGeom prst="rect">
            <a:avLst/>
          </a:prstGeom>
          <a:solidFill>
            <a:srgbClr val="E9E6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10058400" y="2563654"/>
            <a:ext cx="22860" cy="2442329"/>
          </a:xfrm>
          <a:prstGeom prst="roundRect">
            <a:avLst>
              <a:gd name="adj" fmla="val 368946"/>
            </a:avLst>
          </a:prstGeom>
          <a:solidFill>
            <a:srgbClr val="BDB8D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10259139" y="2764393"/>
            <a:ext cx="2510076" cy="313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Final Action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10259139" y="3198495"/>
            <a:ext cx="3460075" cy="1606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We recommend the </a:t>
            </a:r>
            <a:r>
              <a:rPr lang="en-US" sz="155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deployment</a:t>
            </a:r>
            <a:r>
              <a:rPr lang="en-US" sz="15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of the linear SVM model in appropriate clinical settings, specifically for patient screening and early diagnostic support.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6196846" y="5005983"/>
            <a:ext cx="7723108" cy="1799630"/>
          </a:xfrm>
          <a:prstGeom prst="rect">
            <a:avLst/>
          </a:prstGeom>
          <a:solidFill>
            <a:srgbClr val="E9E6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6196846" y="5005983"/>
            <a:ext cx="7723108" cy="22860"/>
          </a:xfrm>
          <a:prstGeom prst="roundRect">
            <a:avLst>
              <a:gd name="adj" fmla="val 368946"/>
            </a:avLst>
          </a:prstGeom>
          <a:solidFill>
            <a:srgbClr val="BDB8D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397585" y="5206722"/>
            <a:ext cx="2510076" cy="313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Future Steps</a:t>
            </a:r>
            <a:endParaRPr lang="en-US" sz="1950" dirty="0"/>
          </a:p>
        </p:txBody>
      </p:sp>
      <p:sp>
        <p:nvSpPr>
          <p:cNvPr id="16" name="Text 13"/>
          <p:cNvSpPr/>
          <p:nvPr/>
        </p:nvSpPr>
        <p:spPr>
          <a:xfrm>
            <a:off x="6397585" y="5640824"/>
            <a:ext cx="7321629" cy="964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The deployed model requires </a:t>
            </a:r>
            <a:r>
              <a:rPr lang="en-US" sz="155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continuous monitoring</a:t>
            </a:r>
            <a:r>
              <a:rPr lang="en-US" sz="15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and </a:t>
            </a:r>
            <a:r>
              <a:rPr lang="en-US" sz="155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periodic retraining</a:t>
            </a:r>
            <a:r>
              <a:rPr lang="en-US" sz="15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to maintain its high accuracy and adaptability to evolving patient demographics and new data.</a:t>
            </a:r>
            <a:endParaRPr lang="en-US" sz="1550" dirty="0"/>
          </a:p>
        </p:txBody>
      </p:sp>
      <p:sp>
        <p:nvSpPr>
          <p:cNvPr id="17" name="Text 14"/>
          <p:cNvSpPr/>
          <p:nvPr/>
        </p:nvSpPr>
        <p:spPr>
          <a:xfrm>
            <a:off x="6189226" y="7039094"/>
            <a:ext cx="7738348" cy="321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This iterative approach ensures sustained clinical utility and optimal patient outcomes.</a:t>
            </a:r>
            <a:endParaRPr lang="en-US" sz="1550" dirty="0"/>
          </a:p>
        </p:txBody>
      </p:sp>
      <p:pic>
        <p:nvPicPr>
          <p:cNvPr id="19" name="Picture 18" descr="A white sky with clouds&#10;&#10;AI-generated content may be incorrect.">
            <a:extLst>
              <a:ext uri="{FF2B5EF4-FFF2-40B4-BE49-F238E27FC236}">
                <a16:creationId xmlns:a16="http://schemas.microsoft.com/office/drawing/2014/main" id="{A86FE90D-9F91-4329-52B1-F292CE400D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72914" y="7694276"/>
            <a:ext cx="1981372" cy="44199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118EE7C-B221-0D92-0E48-3EEC59275410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0" y="619126"/>
            <a:ext cx="5731510" cy="70751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1265</Words>
  <Application>Microsoft Office PowerPoint</Application>
  <PresentationFormat>Custom</PresentationFormat>
  <Paragraphs>122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Outfit Extra Bold</vt:lpstr>
      <vt:lpstr>Arial</vt:lpstr>
      <vt:lpstr>ADLaM Display</vt:lpstr>
      <vt:lpstr>Outfit Light</vt:lpstr>
      <vt:lpstr>Arimo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IZZA IQBAL</dc:creator>
  <cp:lastModifiedBy>Izza Iqbal</cp:lastModifiedBy>
  <cp:revision>2</cp:revision>
  <dcterms:created xsi:type="dcterms:W3CDTF">2025-12-09T07:01:26Z</dcterms:created>
  <dcterms:modified xsi:type="dcterms:W3CDTF">2025-12-09T07:20:10Z</dcterms:modified>
</cp:coreProperties>
</file>